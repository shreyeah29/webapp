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TAM/SAM/SOM (illustrative)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Niche</c:v>
                </c:pt>
                <c:pt idx="1">
                  <c:v>Beachhead</c:v>
                </c:pt>
                <c:pt idx="2">
                  <c:v>Adjacent</c:v>
                </c:pt>
                <c:pt idx="3">
                  <c:v>Total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200</c:v>
                </c:pt>
                <c:pt idx="2">
                  <c:v>600</c:v>
                </c:pt>
                <c:pt idx="3">
                  <c:v>1200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9</c:v>
                </c:pt>
                <c:pt idx="4">
                  <c:v>15</c:v>
                </c:pt>
                <c:pt idx="5">
                  <c:v>24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Customers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8</c:v>
                </c:pt>
                <c:pt idx="4">
                  <c:v>12</c:v>
                </c:pt>
                <c:pt idx="5">
                  <c:v>18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Metrics (illustrative)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CAC</c:v>
                </c:pt>
                <c:pt idx="1">
                  <c:v>LTV</c:v>
                </c:pt>
                <c:pt idx="2">
                  <c:v>Payback (mo)</c:v>
                </c:pt>
                <c:pt idx="3">
                  <c:v>Gross Margin 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300</c:v>
                </c:pt>
                <c:pt idx="1">
                  <c:v>2100</c:v>
                </c:pt>
                <c:pt idx="2">
                  <c:v>6</c:v>
                </c:pt>
                <c:pt idx="3">
                  <c:v>75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Y1</c:v>
                </c:pt>
                <c:pt idx="1">
                  <c:v>Y2</c:v>
                </c:pt>
                <c:pt idx="2">
                  <c:v>Y3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250</c:v>
                </c:pt>
                <c:pt idx="1">
                  <c:v>1200</c:v>
                </c:pt>
                <c:pt idx="2">
                  <c:v>3500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OpEx ($k)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Y1</c:v>
                </c:pt>
                <c:pt idx="1">
                  <c:v>Y2</c:v>
                </c:pt>
                <c:pt idx="2">
                  <c:v>Y3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600</c:v>
                </c:pt>
                <c:pt idx="1">
                  <c:v>1400</c:v>
                </c:pt>
                <c:pt idx="2">
                  <c:v>2200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0"/>
            <a:ext cx="12188952" cy="118872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400" b="1">
                <a:solidFill>
                  <a:srgbClr val="212529"/>
                </a:solidFill>
              </a:rPr>
              <a:t>Your Company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>
                <a:solidFill>
                  <a:srgbClr val="8895A1"/>
                </a:solidFill>
              </a:rPr>
              <a:t>One-line value proposition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457200"/>
            <a:ext cx="2103120" cy="822960"/>
          </a:xfrm>
          <a:prstGeom prst="roundRect">
            <a:avLst/>
          </a:prstGeom>
          <a:solidFill>
            <a:srgbClr val="E76F51"/>
          </a:solidFill>
          <a:ln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Your Logo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212529"/>
                </a:solidFill>
              </a:defRPr>
            </a:pPr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529"/>
                </a:solidFill>
              </a:defRPr>
            </a:pPr>
            <a:r>
              <a:t>[Who] experiences [pain] due to [root cause]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The status quo is costly, slow, or error-prone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Market shifts make the problem urgent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212529"/>
                </a:solidFill>
              </a:defRPr>
            </a:pPr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529"/>
                </a:solidFill>
              </a:defRPr>
            </a:pPr>
            <a:r>
              <a:t>We provide [product] that delivers [key outcome]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10x improvement in [metric] via [secret sauce]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Simple, secure, and scalable by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212529"/>
                </a:solidFill>
              </a:defRPr>
            </a:pPr>
            <a:r>
              <a:t>Market Size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Market Size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554480"/>
          <a:ext cx="103327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12529"/>
                </a:solidFill>
              </a:defRPr>
            </a:pPr>
            <a: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394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12529"/>
                </a:solidFill>
              </a:defRPr>
            </a:pPr>
            <a:r>
              <a:t>Core capability A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Core capability B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Core capability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463040"/>
            <a:ext cx="5394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12529"/>
                </a:solidFill>
              </a:defRPr>
            </a:pPr>
            <a:r>
              <a:t>Outcome 1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Outcome 2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Outcome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212529"/>
                </a:solidFill>
              </a:defRPr>
            </a:pPr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529"/>
                </a:solidFill>
              </a:defRPr>
            </a:pPr>
            <a:r>
              <a:t>Pricing: [subscription/usage/hybrid]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Average contract value: $[x]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Gross margin: [y]%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Business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212529"/>
                </a:solidFill>
              </a:defRPr>
            </a:pPr>
            <a:r>
              <a:t>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Traction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554480"/>
          <a:ext cx="103327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212529"/>
                </a:solidFill>
              </a:defRPr>
            </a:pPr>
            <a:r>
              <a:t>Competitive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Competitive Landscape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114300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264653"/>
                          </a:solidFill>
                        </a:defRPr>
                      </a:pPr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264653"/>
                          </a:solidFill>
                        </a:defRPr>
                      </a:pPr>
                      <a:r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264653"/>
                          </a:solidFill>
                        </a:defRPr>
                      </a:pPr>
                      <a:r>
                        <a:t>Strength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264653"/>
                          </a:solidFill>
                        </a:defRPr>
                      </a:pPr>
                      <a:r>
                        <a:t>Weakness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12529"/>
                          </a:solidFill>
                        </a:defRPr>
                      </a:pPr>
                      <a:r>
                        <a:t>Incumbent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12529"/>
                          </a:solidFill>
                        </a:defRPr>
                      </a:pPr>
                      <a:r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12529"/>
                          </a:solidFill>
                        </a:defRPr>
                      </a:pPr>
                      <a:r>
                        <a:t>Brand, reach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12529"/>
                          </a:solidFill>
                        </a:defRPr>
                      </a:pPr>
                      <a:r>
                        <a:t>Slow innovation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12529"/>
                          </a:solidFill>
                        </a:defRPr>
                      </a:pPr>
                      <a:r>
                        <a:t>Startup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12529"/>
                          </a:solidFill>
                        </a:defRPr>
                      </a:pPr>
                      <a:r>
                        <a:t>SMB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12529"/>
                          </a:solidFill>
                        </a:defRPr>
                      </a:pPr>
                      <a:r>
                        <a:t>Usability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12529"/>
                          </a:solidFill>
                        </a:defRPr>
                      </a:pPr>
                      <a:r>
                        <a:t>Feature depth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12529"/>
                          </a:solidFill>
                        </a:defRPr>
                      </a:pPr>
                      <a:r>
                        <a:t>You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12529"/>
                          </a:solidFill>
                        </a:defRPr>
                      </a:pPr>
                      <a:r>
                        <a:t>Focused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12529"/>
                          </a:solidFill>
                        </a:defRPr>
                      </a:pPr>
                      <a:r>
                        <a:t>Speed, UX, insight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12529"/>
                          </a:solidFill>
                        </a:defRPr>
                      </a:pPr>
                      <a:r>
                        <a:t>Early-stage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212529"/>
                </a:solidFill>
              </a:defRPr>
            </a:pPr>
            <a:r>
              <a:t>Defensibility (Moat)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529"/>
                </a:solidFill>
              </a:defRPr>
            </a:pPr>
            <a:r>
              <a:t>Proprietary data from [source]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Network effects across [participants]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Workflow and switching costs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Defensibility (Moat)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212529"/>
                </a:solidFill>
              </a:defRPr>
            </a:pPr>
            <a:r>
              <a:t>Go-To-Market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529"/>
                </a:solidFill>
              </a:defRPr>
            </a:pPr>
            <a:r>
              <a:t>Beachhead: [ICP / vertical]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Channels: [direct, partners, PLG]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Conversion: [top motion + key KPIs]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Go-To-Market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212529"/>
                </a:solidFill>
              </a:defRPr>
            </a:pPr>
            <a:r>
              <a:t>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383280"/>
            <a:ext cx="10698480" cy="91440"/>
          </a:xfrm>
          <a:prstGeom prst="rect">
            <a:avLst/>
          </a:prstGeom>
          <a:solidFill>
            <a:srgbClr val="889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3246120"/>
            <a:ext cx="274320" cy="27432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2286000"/>
            <a:ext cx="1463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212529"/>
                </a:solidFill>
              </a:rPr>
              <a:t>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356616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895A1"/>
                </a:solidFill>
              </a:rPr>
              <a:t>Q1</a:t>
            </a:r>
          </a:p>
        </p:txBody>
      </p:sp>
      <p:sp>
        <p:nvSpPr>
          <p:cNvPr id="9" name="Oval 8"/>
          <p:cNvSpPr/>
          <p:nvPr/>
        </p:nvSpPr>
        <p:spPr>
          <a:xfrm>
            <a:off x="3360420" y="3246120"/>
            <a:ext cx="274320" cy="274320"/>
          </a:xfrm>
          <a:prstGeom prst="ellipse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20339" y="2286000"/>
            <a:ext cx="1463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212529"/>
                </a:solidFill>
              </a:rPr>
              <a:t>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20339" y="356616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895A1"/>
                </a:solidFill>
              </a:rPr>
              <a:t>Q2</a:t>
            </a:r>
          </a:p>
        </p:txBody>
      </p:sp>
      <p:sp>
        <p:nvSpPr>
          <p:cNvPr id="12" name="Oval 11"/>
          <p:cNvSpPr/>
          <p:nvPr/>
        </p:nvSpPr>
        <p:spPr>
          <a:xfrm>
            <a:off x="5897880" y="3246120"/>
            <a:ext cx="274320" cy="274320"/>
          </a:xfrm>
          <a:prstGeom prst="ellipse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2286000"/>
            <a:ext cx="1463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212529"/>
                </a:solidFill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356616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895A1"/>
                </a:solidFill>
              </a:rPr>
              <a:t>Q3</a:t>
            </a:r>
          </a:p>
        </p:txBody>
      </p:sp>
      <p:sp>
        <p:nvSpPr>
          <p:cNvPr id="15" name="Oval 14"/>
          <p:cNvSpPr/>
          <p:nvPr/>
        </p:nvSpPr>
        <p:spPr>
          <a:xfrm>
            <a:off x="8435340" y="3246120"/>
            <a:ext cx="274320" cy="274320"/>
          </a:xfrm>
          <a:prstGeom prst="ellipse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5260" y="2286000"/>
            <a:ext cx="1463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212529"/>
                </a:solidFill>
              </a:rPr>
              <a:t>New Verticals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5260" y="356616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895A1"/>
                </a:solidFill>
              </a:rPr>
              <a:t>Q4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0" y="3246120"/>
            <a:ext cx="274320" cy="274320"/>
          </a:xfrm>
          <a:prstGeom prst="ellipse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0" y="2286000"/>
            <a:ext cx="1463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212529"/>
                </a:solidFill>
              </a:rPr>
              <a:t>International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356616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895A1"/>
                </a:solidFill>
              </a:rPr>
              <a:t>Q1 next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212529"/>
                </a:solidFill>
              </a:defRPr>
            </a:pPr>
            <a:r>
              <a:t>Unit Economics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Unit Economics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554480"/>
          <a:ext cx="103327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212529"/>
                </a:solidFill>
              </a:defRPr>
            </a:pPr>
            <a:r>
              <a:t>3-Year Projections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3-Year Projections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554480"/>
          <a:ext cx="103327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212529"/>
                </a:solidFill>
              </a:defRPr>
            </a:pPr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529"/>
                </a:solidFill>
              </a:defRPr>
            </a:pPr>
            <a:r>
              <a:t>Founder A — ex-[Company], [domain] expert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Founder B — ex-[Company], [tech] lead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Advisors: [names]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Team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212529"/>
                </a:solidFill>
              </a:defRPr>
            </a:pPr>
            <a:r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529"/>
                </a:solidFill>
              </a:defRPr>
            </a:pPr>
            <a:r>
              <a:t>Raising $[X] seed to reach [milestone]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Use of funds: [key buckets]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Runway: [N]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The Ask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212529"/>
                </a:solidFill>
              </a:defRPr>
            </a:pPr>
            <a:r>
              <a:t>Use of Funds (Illustrative)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Use of Funds (Illustrative)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114300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264653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264653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264653"/>
                          </a:solidFill>
                        </a:defRPr>
                      </a:pPr>
                      <a:r>
                        <a:t>$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12529"/>
                          </a:solidFill>
                        </a:defRPr>
                      </a:pPr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12529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12529"/>
                          </a:solidFill>
                        </a:defRPr>
                      </a:pPr>
                      <a:r>
                        <a:t>$450k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12529"/>
                          </a:solidFill>
                        </a:defRPr>
                      </a:pPr>
                      <a:r>
                        <a:t>Go-To-Market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12529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12529"/>
                          </a:solidFill>
                        </a:defRPr>
                      </a:pPr>
                      <a:r>
                        <a:t>$350k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12529"/>
                          </a:solidFill>
                        </a:defRPr>
                      </a:pPr>
                      <a:r>
                        <a:t>G&amp;A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12529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12529"/>
                          </a:solidFill>
                        </a:defRPr>
                      </a:pPr>
                      <a:r>
                        <a:t>$200k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212529"/>
                </a:solidFill>
              </a:defRPr>
            </a:pPr>
            <a:r>
              <a:t>Milestones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Milestones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383280"/>
            <a:ext cx="10698480" cy="91440"/>
          </a:xfrm>
          <a:prstGeom prst="rect">
            <a:avLst/>
          </a:prstGeom>
          <a:solidFill>
            <a:srgbClr val="889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3246120"/>
            <a:ext cx="274320" cy="27432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2286000"/>
            <a:ext cx="1463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212529"/>
                </a:solidFill>
              </a:rPr>
              <a:t>Close 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356616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895A1"/>
                </a:solidFill>
              </a:rPr>
              <a:t>M0</a:t>
            </a:r>
          </a:p>
        </p:txBody>
      </p:sp>
      <p:sp>
        <p:nvSpPr>
          <p:cNvPr id="9" name="Oval 8"/>
          <p:cNvSpPr/>
          <p:nvPr/>
        </p:nvSpPr>
        <p:spPr>
          <a:xfrm>
            <a:off x="3360420" y="3246120"/>
            <a:ext cx="274320" cy="274320"/>
          </a:xfrm>
          <a:prstGeom prst="ellipse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20339" y="2286000"/>
            <a:ext cx="1463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212529"/>
                </a:solidFill>
              </a:rPr>
              <a:t>Hire core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20339" y="356616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895A1"/>
                </a:solidFill>
              </a:rPr>
              <a:t>M1-2</a:t>
            </a:r>
          </a:p>
        </p:txBody>
      </p:sp>
      <p:sp>
        <p:nvSpPr>
          <p:cNvPr id="12" name="Oval 11"/>
          <p:cNvSpPr/>
          <p:nvPr/>
        </p:nvSpPr>
        <p:spPr>
          <a:xfrm>
            <a:off x="5897880" y="3246120"/>
            <a:ext cx="274320" cy="274320"/>
          </a:xfrm>
          <a:prstGeom prst="ellipse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2286000"/>
            <a:ext cx="1463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212529"/>
                </a:solidFill>
              </a:rPr>
              <a:t>GA + 10 design partners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356616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895A1"/>
                </a:solidFill>
              </a:rPr>
              <a:t>M3-4</a:t>
            </a:r>
          </a:p>
        </p:txBody>
      </p:sp>
      <p:sp>
        <p:nvSpPr>
          <p:cNvPr id="15" name="Oval 14"/>
          <p:cNvSpPr/>
          <p:nvPr/>
        </p:nvSpPr>
        <p:spPr>
          <a:xfrm>
            <a:off x="8435340" y="3246120"/>
            <a:ext cx="274320" cy="274320"/>
          </a:xfrm>
          <a:prstGeom prst="ellipse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5260" y="2286000"/>
            <a:ext cx="1463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212529"/>
                </a:solidFill>
              </a:rPr>
              <a:t>$100k MRR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5260" y="356616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895A1"/>
                </a:solidFill>
              </a:rPr>
              <a:t>M9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0" y="3246120"/>
            <a:ext cx="274320" cy="274320"/>
          </a:xfrm>
          <a:prstGeom prst="ellipse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0" y="2286000"/>
            <a:ext cx="1463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212529"/>
                </a:solidFill>
              </a:rPr>
              <a:t>Series A 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356616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895A1"/>
                </a:solidFill>
              </a:rPr>
              <a:t>M12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212529"/>
                </a:solidFill>
              </a:defRPr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529"/>
                </a:solidFill>
              </a:defRPr>
            </a:pPr>
            <a:r>
              <a:t>Contact: founder@yourcompany.com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Data room available upon request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Appendix follows (optional)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